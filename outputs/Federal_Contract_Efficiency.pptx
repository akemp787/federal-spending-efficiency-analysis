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6D7C88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6D7C88"/>
                </a:solidFill>
                <a:latin typeface="Calibri"/>
              </a:rPr>
              <a:t>Obligations indexed to FY2021 = 100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Nominal dollars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FY2021</c:v>
                  </c:pt>
                  <c:pt idx="1">
                    <c:v>FY2022</c:v>
                  </c:pt>
                  <c:pt idx="2">
                    <c:v>FY2023</c:v>
                  </c:pt>
                  <c:pt idx="3">
                    <c:v>FY2024</c:v>
                  </c:pt>
                  <c:pt idx="4">
                    <c:v>FY2025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107.5</c:v>
                </c:pt>
                <c:pt idx="2">
                  <c:v>117.9</c:v>
                </c:pt>
                <c:pt idx="3">
                  <c:v>117</c:v>
                </c:pt>
                <c:pt idx="4">
                  <c:v>122.9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Constant FY2025 dollars</c:v>
                </c:pt>
              </c:strCache>
            </c:strRef>
          </c:tx>
          <c:spPr>
            <a:solidFill>
              <a:srgbClr val="EB6834"/>
            </a:solidFill>
            <a:ln w="381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FY2021</c:v>
                  </c:pt>
                  <c:pt idx="1">
                    <c:v>FY2022</c:v>
                  </c:pt>
                  <c:pt idx="2">
                    <c:v>FY2023</c:v>
                  </c:pt>
                  <c:pt idx="3">
                    <c:v>FY2024</c:v>
                  </c:pt>
                  <c:pt idx="4">
                    <c:v>FY2025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100.4</c:v>
                </c:pt>
                <c:pt idx="2">
                  <c:v>105.2</c:v>
                </c:pt>
                <c:pt idx="3">
                  <c:v>101.9</c:v>
                </c:pt>
                <c:pt idx="4">
                  <c:v>104.3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95"/>
        </c:scaling>
        <c:delete val="0"/>
        <c:axPos val="l"/>
        <c:majorGridlines>
          <c:spPr>
            <a:ln w="12700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8555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6D7C88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6D7C88"/>
                </a:solidFill>
                <a:latin typeface="Calibri"/>
              </a:rPr>
              <a:t>Share of obligations awarded competitively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Government-wide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FY2021</c:v>
                  </c:pt>
                  <c:pt idx="1">
                    <c:v>FY2022</c:v>
                  </c:pt>
                  <c:pt idx="2">
                    <c:v>FY2023</c:v>
                  </c:pt>
                  <c:pt idx="3">
                    <c:v>FY2024</c:v>
                  </c:pt>
                  <c:pt idx="4">
                    <c:v>FY2025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65.51</c:v>
                </c:pt>
                <c:pt idx="1">
                  <c:v>70.05</c:v>
                </c:pt>
                <c:pt idx="2">
                  <c:v>67.81</c:v>
                </c:pt>
                <c:pt idx="3">
                  <c:v>70.28</c:v>
                </c:pt>
                <c:pt idx="4">
                  <c:v>66.32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Department of Defense</c:v>
                </c:pt>
              </c:strCache>
            </c:strRef>
          </c:tx>
          <c:spPr>
            <a:solidFill>
              <a:srgbClr val="EB6834"/>
            </a:solidFill>
            <a:ln w="381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FY2021</c:v>
                  </c:pt>
                  <c:pt idx="1">
                    <c:v>FY2022</c:v>
                  </c:pt>
                  <c:pt idx="2">
                    <c:v>FY2023</c:v>
                  </c:pt>
                  <c:pt idx="3">
                    <c:v>FY2024</c:v>
                  </c:pt>
                  <c:pt idx="4">
                    <c:v>FY2025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53.21</c:v>
                </c:pt>
                <c:pt idx="1">
                  <c:v>59.5</c:v>
                </c:pt>
                <c:pt idx="2">
                  <c:v>55.11</c:v>
                </c:pt>
                <c:pt idx="3">
                  <c:v>58</c:v>
                </c:pt>
                <c:pt idx="4">
                  <c:v>52.73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All other agencies</c:v>
                </c:pt>
              </c:strCache>
            </c:strRef>
          </c:tx>
          <c:spPr>
            <a:solidFill>
              <a:srgbClr val="1BAF7A"/>
            </a:solidFill>
            <a:ln w="381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FY2021</c:v>
                  </c:pt>
                  <c:pt idx="1">
                    <c:v>FY2022</c:v>
                  </c:pt>
                  <c:pt idx="2">
                    <c:v>FY2023</c:v>
                  </c:pt>
                  <c:pt idx="3">
                    <c:v>FY2024</c:v>
                  </c:pt>
                  <c:pt idx="4">
                    <c:v>FY2025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84.82</c:v>
                </c:pt>
                <c:pt idx="1">
                  <c:v>86.45</c:v>
                </c:pt>
                <c:pt idx="2">
                  <c:v>87.84</c:v>
                </c:pt>
                <c:pt idx="3">
                  <c:v>88.86</c:v>
                </c:pt>
                <c:pt idx="4">
                  <c:v>89.49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12700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8555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Departments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+0.00;-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48555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Defense</c:v>
                  </c:pt>
                  <c:pt idx="1">
                    <c:v>Health &amp; Human Svcs</c:v>
                  </c:pt>
                  <c:pt idx="2">
                    <c:v>Veterans Affairs</c:v>
                  </c:pt>
                  <c:pt idx="3">
                    <c:v>Homeland Sec.</c:v>
                  </c:pt>
                  <c:pt idx="4">
                    <c:v>USAID</c:v>
                  </c:pt>
                  <c:pt idx="5">
                    <c:v>HUD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-3.67</c:v>
                </c:pt>
                <c:pt idx="1">
                  <c:v>-0.33</c:v>
                </c:pt>
                <c:pt idx="2">
                  <c:v>0.23</c:v>
                </c:pt>
                <c:pt idx="3">
                  <c:v>0.2</c:v>
                </c:pt>
                <c:pt idx="4">
                  <c:v>-0.13</c:v>
                </c:pt>
                <c:pt idx="5">
                  <c:v>0.08</c:v>
                </c:pt>
              </c:numCache>
            </c:numRef>
          </c:val>
        </c:ser>
        <c:dLbls>
          <c:numFmt formatCode="+0.00;-0.00" sourceLinked="0"/>
          <c:txPr>
            <a:bodyPr/>
            <a:lstStyle/>
            <a:p>
              <a:pPr>
                <a:defRPr b="0" i="0" strike="noStrike" sz="950" u="none">
                  <a:solidFill>
                    <a:srgbClr val="48555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Components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+0.00;-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48555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Navy</c:v>
                  </c:pt>
                  <c:pt idx="1">
                    <c:v>Army</c:v>
                  </c:pt>
                  <c:pt idx="2">
                    <c:v>Air Force</c:v>
                  </c:pt>
                  <c:pt idx="3">
                    <c:v>Defense Logistics Agency</c:v>
                  </c:pt>
                  <c:pt idx="4">
                    <c:v>Missile Defense Agency</c:v>
                  </c:pt>
                  <c:pt idx="5">
                    <c:v>Defense Health Agency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-3.98</c:v>
                </c:pt>
                <c:pt idx="1">
                  <c:v>-1.45</c:v>
                </c:pt>
                <c:pt idx="2">
                  <c:v>0.92</c:v>
                </c:pt>
                <c:pt idx="3">
                  <c:v>-0.27</c:v>
                </c:pt>
                <c:pt idx="4">
                  <c:v>-0.16</c:v>
                </c:pt>
                <c:pt idx="5">
                  <c:v>-0.11</c:v>
                </c:pt>
              </c:numCache>
            </c:numRef>
          </c:val>
        </c:ser>
        <c:dLbls>
          <c:numFmt formatCode="+0.00;-0.00" sourceLinked="0"/>
          <c:txPr>
            <a:bodyPr/>
            <a:lstStyle/>
            <a:p>
              <a:pPr>
                <a:defRPr b="0" i="0" strike="noStrike" sz="950" u="none">
                  <a:solidFill>
                    <a:srgbClr val="48555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6D7C88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6D7C88"/>
                </a:solidFill>
                <a:latin typeface="Calibri"/>
              </a:rPr>
              <a:t>Military departments — competed share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Navy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FY2021</c:v>
                  </c:pt>
                  <c:pt idx="1">
                    <c:v>FY2022</c:v>
                  </c:pt>
                  <c:pt idx="2">
                    <c:v>FY2023</c:v>
                  </c:pt>
                  <c:pt idx="3">
                    <c:v>FY2024</c:v>
                  </c:pt>
                  <c:pt idx="4">
                    <c:v>FY2025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43.07</c:v>
                </c:pt>
                <c:pt idx="1">
                  <c:v>43.48</c:v>
                </c:pt>
                <c:pt idx="2">
                  <c:v>39.27</c:v>
                </c:pt>
                <c:pt idx="3">
                  <c:v>45.76</c:v>
                </c:pt>
                <c:pt idx="4">
                  <c:v>36.58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Air Force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FY2021</c:v>
                  </c:pt>
                  <c:pt idx="1">
                    <c:v>FY2022</c:v>
                  </c:pt>
                  <c:pt idx="2">
                    <c:v>FY2023</c:v>
                  </c:pt>
                  <c:pt idx="3">
                    <c:v>FY2024</c:v>
                  </c:pt>
                  <c:pt idx="4">
                    <c:v>FY2025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47.05</c:v>
                </c:pt>
                <c:pt idx="1">
                  <c:v>49.41</c:v>
                </c:pt>
                <c:pt idx="2">
                  <c:v>45.66</c:v>
                </c:pt>
                <c:pt idx="3">
                  <c:v>46.38</c:v>
                </c:pt>
                <c:pt idx="4">
                  <c:v>49.62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Army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FY2021</c:v>
                  </c:pt>
                  <c:pt idx="1">
                    <c:v>FY2022</c:v>
                  </c:pt>
                  <c:pt idx="2">
                    <c:v>FY2023</c:v>
                  </c:pt>
                  <c:pt idx="3">
                    <c:v>FY2024</c:v>
                  </c:pt>
                  <c:pt idx="4">
                    <c:v>FY2025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49.17</c:v>
                </c:pt>
                <c:pt idx="1">
                  <c:v>66.3</c:v>
                </c:pt>
                <c:pt idx="2">
                  <c:v>60.46</c:v>
                </c:pt>
                <c:pt idx="3">
                  <c:v>61.5</c:v>
                </c:pt>
                <c:pt idx="4">
                  <c:v>55.1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30"/>
        </c:scaling>
        <c:delete val="0"/>
        <c:axPos val="l"/>
        <c:majorGridlines>
          <c:spPr>
            <a:ln w="12700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8555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8555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Defense</c:v>
                  </c:pt>
                  <c:pt idx="1">
                    <c:v>Energy</c:v>
                  </c:pt>
                  <c:pt idx="2">
                    <c:v>Education</c:v>
                  </c:pt>
                  <c:pt idx="3">
                    <c:v>Justice</c:v>
                  </c:pt>
                  <c:pt idx="4">
                    <c:v>Veterans Affairs</c:v>
                  </c:pt>
                  <c:pt idx="5">
                    <c:v>Homeland Sec.</c:v>
                  </c:pt>
                  <c:pt idx="6">
                    <c:v>GSA</c:v>
                  </c:pt>
                  <c:pt idx="7">
                    <c:v>USAID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50.9</c:v>
                </c:pt>
                <c:pt idx="1">
                  <c:v>97</c:v>
                </c:pt>
                <c:pt idx="2">
                  <c:v>91.1</c:v>
                </c:pt>
                <c:pt idx="3">
                  <c:v>85.3</c:v>
                </c:pt>
                <c:pt idx="4">
                  <c:v>92.3</c:v>
                </c:pt>
                <c:pt idx="5">
                  <c:v>90.6</c:v>
                </c:pt>
                <c:pt idx="6">
                  <c:v>91.5</c:v>
                </c:pt>
                <c:pt idx="7">
                  <c:v>96.7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Portfolio-adjusted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8555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Defense</c:v>
                  </c:pt>
                  <c:pt idx="1">
                    <c:v>Energy</c:v>
                  </c:pt>
                  <c:pt idx="2">
                    <c:v>Education</c:v>
                  </c:pt>
                  <c:pt idx="3">
                    <c:v>Justice</c:v>
                  </c:pt>
                  <c:pt idx="4">
                    <c:v>Veterans Affairs</c:v>
                  </c:pt>
                  <c:pt idx="5">
                    <c:v>Homeland Sec.</c:v>
                  </c:pt>
                  <c:pt idx="6">
                    <c:v>GSA</c:v>
                  </c:pt>
                  <c:pt idx="7">
                    <c:v>USAID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57</c:v>
                </c:pt>
                <c:pt idx="1">
                  <c:v>81.4</c:v>
                </c:pt>
                <c:pt idx="2">
                  <c:v>82.3</c:v>
                </c:pt>
                <c:pt idx="3">
                  <c:v>82.6</c:v>
                </c:pt>
                <c:pt idx="4">
                  <c:v>82.7</c:v>
                </c:pt>
                <c:pt idx="5">
                  <c:v>84.2</c:v>
                </c:pt>
                <c:pt idx="6">
                  <c:v>88.1</c:v>
                </c:pt>
                <c:pt idx="7">
                  <c:v>90.8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48555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8555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6D7C88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6D7C88"/>
                </a:solidFill>
                <a:latin typeface="Calibri"/>
              </a:rPr>
              <a:t>FY2025 obligations by month, indexed to an even pace (100)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Pacing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48555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74.9</c:v>
                </c:pt>
                <c:pt idx="1">
                  <c:v>68.9</c:v>
                </c:pt>
                <c:pt idx="2">
                  <c:v>97</c:v>
                </c:pt>
                <c:pt idx="3">
                  <c:v>85.3</c:v>
                </c:pt>
                <c:pt idx="4">
                  <c:v>70.2</c:v>
                </c:pt>
                <c:pt idx="5">
                  <c:v>83.5</c:v>
                </c:pt>
                <c:pt idx="6">
                  <c:v>85.4</c:v>
                </c:pt>
                <c:pt idx="7">
                  <c:v>91.9</c:v>
                </c:pt>
                <c:pt idx="8">
                  <c:v>96.6</c:v>
                </c:pt>
                <c:pt idx="9">
                  <c:v>110.4</c:v>
                </c:pt>
                <c:pt idx="10">
                  <c:v>107.8</c:v>
                </c:pt>
                <c:pt idx="11">
                  <c:v>228.2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50" u="none">
                  <a:solidFill>
                    <a:srgbClr val="48555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6D7C88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6D7C88"/>
                </a:solidFill>
                <a:latin typeface="Calibri"/>
              </a:rPr>
              <a:t>Change in obligations, FY2024 to FY2025 ($B)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+0.0;-0.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48555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E3494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Defense</c:v>
                  </c:pt>
                  <c:pt idx="1">
                    <c:v>Veterans Affairs</c:v>
                  </c:pt>
                  <c:pt idx="2">
                    <c:v>Homeland Sec.</c:v>
                  </c:pt>
                  <c:pt idx="3">
                    <c:v>Energy</c:v>
                  </c:pt>
                  <c:pt idx="4">
                    <c:v>State</c:v>
                  </c:pt>
                  <c:pt idx="5">
                    <c:v>Agriculture</c:v>
                  </c:pt>
                  <c:pt idx="6">
                    <c:v>GSA</c:v>
                  </c:pt>
                  <c:pt idx="7">
                    <c:v>HUD</c:v>
                  </c:pt>
                  <c:pt idx="8">
                    <c:v>USAID</c:v>
                  </c:pt>
                  <c:pt idx="9">
                    <c:v>Health &amp; Human Svcs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45.6</c:v>
                </c:pt>
                <c:pt idx="1">
                  <c:v>11.4</c:v>
                </c:pt>
                <c:pt idx="2">
                  <c:v>4.7</c:v>
                </c:pt>
                <c:pt idx="3">
                  <c:v>2.5</c:v>
                </c:pt>
                <c:pt idx="4">
                  <c:v>-1.8</c:v>
                </c:pt>
                <c:pt idx="5">
                  <c:v>-2</c:v>
                </c:pt>
                <c:pt idx="6">
                  <c:v>-2.7</c:v>
                </c:pt>
                <c:pt idx="7">
                  <c:v>-2.9</c:v>
                </c:pt>
                <c:pt idx="8">
                  <c:v>-3.3</c:v>
                </c:pt>
                <c:pt idx="9">
                  <c:v>-8.6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b="0" i="0" strike="noStrike" sz="950" u="none">
                  <a:solidFill>
                    <a:srgbClr val="48555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8555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years of federal contract data, $3.58 trillion across 71 agencies, pulled from the USAspending API and run through a pipeline I built. Four things came out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this slide is that the numbers are checkable. Anyone can clone the repo and regenerate every figure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because it sets the standard of care. Prices rose 17.9% across the window.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question here and pay it off on the next slide. Do not resolve it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most time here. A department-level metric averaged Navy's nine-point fall against the Air Force's rise and reported 'Defense declined'.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upper bound before anyone asks. That reads as confidence; conceding it under questioning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careful here. Do not allege anything; this identifies where to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brief — it is context for the recommendations, not a finding to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page that distinguishes the work. Most portfolio dashboards present a ranking as settled.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R1, R2 and R5. R5 is a recommendation against my own index, which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rush this slide or apologise for it. In an interview it often earns the most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reproducibility. Offer the repo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9601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CONTRACT SPENDING EFFICIENCY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716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$3.58 trillion went —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where it was spent without a bid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1546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D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of US federal contract obligations, FY2021–FY2025, across 71 agencies.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114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791456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growth, not the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22.9% headline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364992" y="4114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66.3%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364992" y="4791456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Competed share —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five-year low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163056" y="4114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163056" y="4791456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decline is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organisation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961120" y="4114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19.0%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0" y="4791456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year obligated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its final month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14476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Andrew Kemp  ·  github.com/Akemp787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be reproduced, not just presented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381244" cy="1773936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20240"/>
            <a:ext cx="512064" cy="51206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20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1929384"/>
            <a:ext cx="41559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2322576"/>
            <a:ext cx="41559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Cached, retrying client over the USAspending API. 763 responses stored by request hash, so the whole analysis rebuilds offline in about two seconds.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0780" y="1627632"/>
            <a:ext cx="5381244" cy="1773936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15100" y="1920240"/>
            <a:ext cx="512064" cy="512064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5100" y="1920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73468" y="1929384"/>
            <a:ext cx="41559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173468" y="2322576"/>
            <a:ext cx="41559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tidy extracts to 25 analysis tables, with every assumption — competition codes, risk buckets, index weights — held in one config file.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621024"/>
            <a:ext cx="5381244" cy="1773936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913632"/>
            <a:ext cx="512064" cy="512064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39136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99616" y="3922776"/>
            <a:ext cx="41559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99616" y="4315968"/>
            <a:ext cx="41559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data-quality contracts run on every build and fail it if broken. All 325 agency-years reconcile within 1%.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40780" y="3621024"/>
            <a:ext cx="5381244" cy="1773936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5100" y="3913632"/>
            <a:ext cx="512064" cy="51206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5100" y="39136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73468" y="3922776"/>
            <a:ext cx="41559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173468" y="4315968"/>
            <a:ext cx="41559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 warehouse, SQL views, an HTML dashboard, a Power BI model and this deck — all regenerated from the same tables.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952744"/>
            <a:ext cx="118872" cy="11887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587044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tests and 12 validation contracts run in CI. Two real defects were caught by them before publication.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40080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method: docs/METHODOLOGY.md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46536" y="365760"/>
            <a:ext cx="475488" cy="47548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146536" y="365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01 · GROWTH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58368"/>
            <a:ext cx="10232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Spending rose 22.9%. Adjusted for inflation, it rose 4.3%.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64208"/>
          <a:ext cx="7589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449056" y="196596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D7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22.9%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449056" y="2514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growth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FY2021–FY2025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449056" y="3154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449056" y="3703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growth, in constant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dollars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449056" y="4434840"/>
            <a:ext cx="3200400" cy="1170432"/>
          </a:xfrm>
          <a:prstGeom prst="roundRect">
            <a:avLst>
              <a:gd name="adj" fmla="val 4688"/>
            </a:avLst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50224" y="45537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$118B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650224" y="49377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$145B increase is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level, not volume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5952744"/>
            <a:ext cx="118872" cy="11887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" y="587044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statement about federal spending growth that does not name a deflator is describing inflation. Every figure that follows is inflation-adjusted.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0080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USAspending API · deflated with the BEA GDP price index (FRED GDPDEF), fiscal-year averaged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46536" y="365760"/>
            <a:ext cx="475488" cy="47548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146536" y="365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02 · COMPETITION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58368"/>
            <a:ext cx="10232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Competition fell to a five-year low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27632"/>
          <a:ext cx="7589520" cy="39684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449056" y="19202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70.3% → 66.3%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449056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Competed share, FY2024 to FY2025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449056" y="310896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$262.7B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449056" y="3657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Non-competed obligations,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from $220.2B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449056" y="4443984"/>
            <a:ext cx="3200400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50224" y="45537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possible causes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650224" y="4828032"/>
            <a:ext cx="2834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 competing less of their own work — or money moving toward agencies that never did.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5952744"/>
            <a:ext cx="118872" cy="11887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" y="587044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two explanations call for opposite responses — so the next slide separates them rather than guessing.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0080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USAspending API · FY2021–FY2025 contract obligations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46536" y="365760"/>
            <a:ext cx="475488" cy="47548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146536" y="365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03 · ATTRIBUTION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58368"/>
            <a:ext cx="10232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93% of the decline is Defense — and 76% of Defense is the Navy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7276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to the government-wide change (pp)</a:t>
            </a:r>
            <a:endParaRPr lang="en-US" sz="11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93776" y="1828800"/>
          <a:ext cx="5532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27648" y="157276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Defense, by component (pp)</a:t>
            </a:r>
            <a:endParaRPr lang="en-US" sz="11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254496" y="1828800"/>
          <a:ext cx="5532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2" descr=""/>
          <p:cNvGraphicFramePr/>
          <p:nvPr/>
        </p:nvGraphicFramePr>
        <p:xfrm>
          <a:off x="493776" y="4187952"/>
          <a:ext cx="6583680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7351776" y="4315968"/>
            <a:ext cx="4279392" cy="1481328"/>
          </a:xfrm>
          <a:prstGeom prst="roundRect">
            <a:avLst>
              <a:gd name="adj" fmla="val 3704"/>
            </a:avLst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552944" y="44439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Navy: 45.8% → 36.6%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552944" y="4828032"/>
            <a:ext cx="39319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$176.6B of obligations. Had it held the prior-year rate, $16.2B more would have been competed. The Air Force moved the other way.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66928" y="6025896"/>
            <a:ext cx="118872" cy="11887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04672" y="59436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 is behavioural, not budget mix: -3.06 pp within-agency versus -0.76 pp from money moving. The three terms reconcile to the total exactly.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40080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Shift-share decomposition · reconciliation residual &lt; 1e-16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46536" y="365760"/>
            <a:ext cx="475488" cy="47548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146536" y="365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04 · CONTROL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58368"/>
            <a:ext cx="10232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buy harder things” explains 6.1 points of a 30-point gap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the product mix constant at the government-wide basket, so only within-category practice varies.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93776" y="1901952"/>
          <a:ext cx="777240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8577072" y="199339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50.9% → 57.0%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577072" y="25420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Defense, before and after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adjusting for what it buys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577072" y="32004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80.5%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8577072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Civilian agency median,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577072" y="4443984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59952" y="45537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23.5 points remain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759952" y="48646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competing less than others on the same kinds of purchases.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6025896"/>
            <a:ext cx="118872" cy="118872"/>
          </a:xfrm>
          <a:prstGeom prst="ellipse">
            <a:avLst/>
          </a:prstGeom>
          <a:solidFill>
            <a:srgbClr val="6D7C88"/>
          </a:solidFill>
          <a:ln w="12700">
            <a:solidFill>
              <a:srgbClr val="6D7C8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" y="59436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categories are coarse, so 23.5 points is an upper bound on the practice gap, not a point estimate.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640080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standardisation · reference coverage for Defense: 0.98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46536" y="365760"/>
            <a:ext cx="475488" cy="47548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146536" y="365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05 · TIMING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58368"/>
            <a:ext cx="10232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19.0% of the year's contracting happened in its final month</a:t>
            </a:r>
            <a:endParaRPr lang="en-US" sz="2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93776" y="1700784"/>
          <a:ext cx="768096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50392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$83.4B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2560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obligated above an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monthly pace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331012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37.2%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38587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year fell in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Q4 (Jul–Sep)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03920" y="4572000"/>
            <a:ext cx="3200400" cy="1060704"/>
          </a:xfrm>
          <a:prstGeom prst="roundRect">
            <a:avLst>
              <a:gd name="adj" fmla="val 5172"/>
            </a:avLst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0" y="46634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share by year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937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2021: 16.9%   2022: 17.9%   2023: 16.2%   2024: 17.6%   2025: 19.0%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6025896"/>
            <a:ext cx="118872" cy="118872"/>
          </a:xfrm>
          <a:prstGeom prst="ellipse">
            <a:avLst/>
          </a:prstGeom>
          <a:solidFill>
            <a:srgbClr val="6D7C88"/>
          </a:solidFill>
          <a:ln w="12700">
            <a:solidFill>
              <a:srgbClr val="6D7C8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" y="59436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sampling frame, not a finding — but the largest such population in five years.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0080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USAspending API · FY2021–FY2025 contract obligations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46536" y="365760"/>
            <a:ext cx="475488" cy="47548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146536" y="365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06 · COMPOSITION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58368"/>
            <a:ext cx="10232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FY2025 split the government in two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93776" y="1664208"/>
          <a:ext cx="7772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59536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rose with it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23317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3800 → 4158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2880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Agency-level HHI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595360" y="34290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79.5% → 83.0%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3977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four agencies'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all obligations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595360" y="4590288"/>
            <a:ext cx="3108960" cy="1042416"/>
          </a:xfrm>
          <a:prstGeom prst="roundRect">
            <a:avLst>
              <a:gd name="adj" fmla="val 5263"/>
            </a:avLst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78240" y="4681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ended net negative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778240" y="49560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cancelled more contract value than it awarded — unique in the window.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6928" y="6025896"/>
            <a:ext cx="118872" cy="11887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" y="59436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and security grew while health, international development and general services contracted sharply.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640080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USAspending API · FY2021–FY2025 contract obligations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46536" y="365760"/>
            <a:ext cx="475488" cy="47548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146536" y="365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07 · UNCERTAINTY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58368"/>
            <a:ext cx="10232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ranking, and the reason not to trust most of it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agency re-scored 2,000 times under randomly drawn weights. The band is the 5th–95th percentile of its score.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7772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920240"/>
                <a:gridCol w="1371600"/>
                <a:gridCol w="137160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D7C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6D7C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6D7C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across weightings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6D7C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best–worst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D7C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69.9 – 92.3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Treasury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 – 86.9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 – 84.7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separable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Veterans Affairs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45.3 – 94.9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separable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69.4 – 86.4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separable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51.2 – 83.9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separable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D7C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39.1 – 86.4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separable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 – 71.3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– 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– 72.9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D1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 – 71.8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85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– 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separable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8631936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of 19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631936" y="25237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 hold their quartile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every weighting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3291840"/>
            <a:ext cx="3108960" cy="2331720"/>
          </a:xfrm>
          <a:prstGeom prst="roundRect">
            <a:avLst>
              <a:gd name="adj" fmla="val 2353"/>
            </a:avLst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814816" y="3419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survives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814816" y="3712464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Agriculture, Treasury, State, USAID hold their position under almost any weighting. Everything between them is an artefact of the weights, and is reported as such.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814816" y="5029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tails. Do not rank the middle.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6025896"/>
            <a:ext cx="118872" cy="11887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" y="59436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index published with its uncertainty attached is more useful than one that appears more authoritative than the evidence supports.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0080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drawn from a flat Dirichlet — the uniform distribution over the simplex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places to look, ranked by what the review would teach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5096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002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competition at the level that awards contracts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84708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Navy drove ~70% of the government-wide decline. A department-level metric sends the question to 40 organisations.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116568" y="168249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579608" y="1700784"/>
            <a:ext cx="932688" cy="283464"/>
          </a:xfrm>
          <a:prstGeom prst="roundRect">
            <a:avLst>
              <a:gd name="adj" fmla="val 45161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79608" y="1700784"/>
            <a:ext cx="932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2276856"/>
            <a:ext cx="11055096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" y="239572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53312" y="23682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“harder things” defence before accepting it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64261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mix explains only 6.1 points of Defense's gap. The rest is practice.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116568" y="247802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23.5 pp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0579608" y="2496312"/>
            <a:ext cx="932688" cy="283464"/>
          </a:xfrm>
          <a:prstGeom prst="roundRect">
            <a:avLst>
              <a:gd name="adj" fmla="val 45161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79608" y="2496312"/>
            <a:ext cx="932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" y="3072384"/>
            <a:ext cx="11055096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8096" y="31912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31638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September surge as a sampling frame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43814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year-end awards against the same agency's rest-of-year baseline for competition and pricing.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116568" y="327355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$83.4B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579608" y="3291840"/>
            <a:ext cx="932688" cy="283464"/>
          </a:xfrm>
          <a:prstGeom prst="roundRect">
            <a:avLst>
              <a:gd name="adj" fmla="val 45161"/>
            </a:avLst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79608" y="3291840"/>
            <a:ext cx="932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867912"/>
            <a:ext cx="11055096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" y="398678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39593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contract-type risk as an independent signal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23367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HHS cost-risk share rose 10.3 pp while its obligations fell 28.7%.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116568" y="406908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$256.5B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0579608" y="4087368"/>
            <a:ext cx="932688" cy="283464"/>
          </a:xfrm>
          <a:prstGeom prst="roundRect">
            <a:avLst>
              <a:gd name="adj" fmla="val 45161"/>
            </a:avLst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579608" y="4087368"/>
            <a:ext cx="932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4663440"/>
            <a:ext cx="11055096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8096" y="478231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1353312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efficiency index only at its tails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502920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 of 19 agencies hold their quartile. The middle is not a ranking.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116568" y="486460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10579608" y="4882896"/>
            <a:ext cx="932688" cy="283464"/>
          </a:xfrm>
          <a:prstGeom prst="roundRect">
            <a:avLst>
              <a:gd name="adj" fmla="val 45161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579608" y="4882896"/>
            <a:ext cx="932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5458968"/>
            <a:ext cx="11055096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68096" y="55778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353312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vendor concentration as a data problem first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1353312" y="582472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Truncated at the top 100 recipients with no corporate-family rollup. Not yet good enough to act on.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116568" y="566013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10579608" y="5678424"/>
            <a:ext cx="932688" cy="283464"/>
          </a:xfrm>
          <a:prstGeom prst="roundRect">
            <a:avLst>
              <a:gd name="adj" fmla="val 45161"/>
            </a:avLst>
          </a:prstGeom>
          <a:solidFill>
            <a:srgbClr val="6D7C88"/>
          </a:solidFill>
          <a:ln w="12700">
            <a:solidFill>
              <a:srgbClr val="6D7C8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579608" y="5678424"/>
            <a:ext cx="932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6409944"/>
            <a:ext cx="118872" cy="11887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632764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recommendation states what evidence would prove it wrong. R6 is deliberately marked low-confidence.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D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analysis cannot support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534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Obligations, not outlays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64792"/>
            <a:ext cx="53446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committed, not money spent. De-obligations are included, so an agency can post a negative year.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40780" y="1481328"/>
            <a:ext cx="534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only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240780" y="1764792"/>
            <a:ext cx="53446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Grants, loans and direct payments are out of scope. This is federal contracting, not federal spending.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505456"/>
            <a:ext cx="534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Awarding agency, not funding agency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788920"/>
            <a:ext cx="53446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one agency buys on another's behalf, the obligation is credited to the awarder. This materially affects GSA.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40780" y="2505456"/>
            <a:ext cx="534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rate is not competition quality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40780" y="2788920"/>
            <a:ext cx="53446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competed award drawing one bid meets the process without getting price discipline.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529584"/>
            <a:ext cx="534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 control is coarse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813048"/>
            <a:ext cx="53446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groups mix unlike purchases, so the practice gap is an upper bound.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240780" y="3529584"/>
            <a:ext cx="534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concentration is understated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240780" y="3813048"/>
            <a:ext cx="53446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Top-100 recipients only, with no corporate-family rollup.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55096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882896"/>
            <a:ext cx="10506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to be explicit about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5175504"/>
            <a:ext cx="10506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8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identifies waste, fraud or abuse. Sole-source contracts are frequently lawful and correct, and some work genuinely requires cost-reimbursement. Every output indicates where a reviewer would learn the most, not where wrongdoing occurred.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5632704"/>
            <a:ext cx="10506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D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savings estimate in this deck, deliberately. Competition affects price, but this analysis observes obligations, not prices.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HOLDS 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Checkable, reproducible, and honest about its limits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96596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325 / 325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58775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agency-years reconcile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1%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196596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3364992" y="258775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contracts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the build if broken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163056" y="196596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163056" y="258775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none of which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the network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196596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sec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961120" y="258775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reproduce every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offline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11055096" cy="1188720"/>
          </a:xfrm>
          <a:prstGeom prst="roundRect">
            <a:avLst>
              <a:gd name="adj" fmla="val 4615"/>
            </a:avLst>
          </a:prstGeom>
          <a:solidFill>
            <a:srgbClr val="1B2E42"/>
          </a:solidFill>
          <a:ln w="12700">
            <a:solidFill>
              <a:srgbClr val="2C40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" y="3803904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defects were caught by those checks before publication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4114800"/>
            <a:ext cx="10469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3D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government API that silently truncates its results — it had dropped Interior's largest component and left the totals 33% short. And a calculation that could return a competition rate above 100%, because its numerator and denominator came from separate queries. Both are documented in the repository rather than quietly patched.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35838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Andrew Kemp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7058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github.com/Akemp787/federal-spending-efficiency-analysis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867144" y="53949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methodology, data dictionary, recommendations and limitations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in the repository.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Federal Contract Spending Efficiency</dc:title>
  <dc:subject>PptxGenJS Presentation</dc:subject>
  <dc:creator>Andrew Kemp</dc:creator>
  <cp:lastModifiedBy>Andrew Kemp</cp:lastModifiedBy>
  <cp:revision>1</cp:revision>
  <dcterms:created xsi:type="dcterms:W3CDTF">2026-09-01T01:53:31Z</dcterms:created>
  <dcterms:modified xsi:type="dcterms:W3CDTF">2026-09-01T01:53:31Z</dcterms:modified>
</cp:coreProperties>
</file>